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handoutMasterIdLst>
    <p:handoutMasterId r:id="rId9"/>
  </p:handoutMasterIdLst>
  <p:sldIdLst>
    <p:sldId id="256" r:id="rId2"/>
    <p:sldId id="259" r:id="rId3"/>
    <p:sldId id="263" r:id="rId4"/>
    <p:sldId id="264" r:id="rId5"/>
    <p:sldId id="265" r:id="rId6"/>
    <p:sldId id="266" r:id="rId7"/>
    <p:sldId id="262" r:id="rId8"/>
  </p:sldIdLst>
  <p:sldSz cx="12192000" cy="6858000"/>
  <p:notesSz cx="6858000" cy="9144000"/>
  <p:defaultTextStyle>
    <a:defPPr>
      <a:defRPr lang="en-LV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96543A-DF67-435F-25D0-F5CD4965787D}" v="195" dt="2025-11-13T18:17:42.702"/>
    <p1510:client id="{B16B039D-EC04-410C-993F-22EE88256ECF}" v="226" dt="2025-11-13T17:42:30.8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18" autoAdjust="0"/>
    <p:restoredTop sz="95329"/>
  </p:normalViewPr>
  <p:slideViewPr>
    <p:cSldViewPr snapToGrid="0">
      <p:cViewPr varScale="1">
        <p:scale>
          <a:sx n="111" d="100"/>
          <a:sy n="111" d="100"/>
        </p:scale>
        <p:origin x="4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5" d="100"/>
          <a:sy n="75" d="100"/>
        </p:scale>
        <p:origin x="2296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F6FD20-0E8C-3701-0237-188725B440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LV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8FEE2D-9DAA-8027-F7C5-C647294CB16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825C49-346E-4046-AFD0-E9EC5DF37E52}" type="datetimeFigureOut">
              <a:rPr lang="en-LV" smtClean="0"/>
              <a:t>11/13/2025</a:t>
            </a:fld>
            <a:endParaRPr lang="en-LV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A01847-AB0C-FBFD-AF9D-55D492A31D4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LV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3F0C2B-4553-51AC-0351-F5802B10384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545C0D-5EEC-7044-9C16-751228F1A68D}" type="slidenum">
              <a:rPr lang="en-LV" smtClean="0"/>
              <a:t>‹#›</a:t>
            </a:fld>
            <a:endParaRPr lang="en-LV"/>
          </a:p>
        </p:txBody>
      </p:sp>
    </p:spTree>
    <p:extLst>
      <p:ext uri="{BB962C8B-B14F-4D97-AF65-F5344CB8AC3E}">
        <p14:creationId xmlns:p14="http://schemas.microsoft.com/office/powerpoint/2010/main" val="28138179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3CEE79D9-8E5D-08D4-12A5-2399F473A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2766218"/>
            <a:ext cx="872995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 b="1" spc="0" dirty="0"/>
              <a:t>PREZENT</a:t>
            </a:r>
            <a:r>
              <a:rPr lang="lv-LV" sz="4400" b="1" spc="0" dirty="0"/>
              <a:t>ĀCIJAS </a:t>
            </a:r>
            <a:br>
              <a:rPr lang="lv-LV" sz="4400" b="1" spc="0" dirty="0"/>
            </a:br>
            <a:r>
              <a:rPr lang="lv-LV" sz="4400" b="1" spc="0" dirty="0"/>
              <a:t>VIRSRAKSTS</a:t>
            </a:r>
            <a:endParaRPr lang="en-LV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C2146F60-2BE9-CBE8-D1DD-16D2709BD6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5504329"/>
            <a:ext cx="8729954" cy="7563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lv-LV" dirty="0"/>
              <a:t>Autors  </a:t>
            </a:r>
          </a:p>
          <a:p>
            <a:r>
              <a:rPr lang="lv-LV" dirty="0"/>
              <a:t>Vieta / Datums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03002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FF816-4FAF-8E2C-2EB0-3EC3FDA6366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1318" y="638269"/>
            <a:ext cx="3603811" cy="670578"/>
          </a:xfrm>
        </p:spPr>
        <p:txBody>
          <a:bodyPr anchor="b">
            <a:normAutofit/>
          </a:bodyPr>
          <a:lstStyle>
            <a:lvl1pPr algn="l">
              <a:defRPr sz="3600" b="0" spc="0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lv-LV" dirty="0">
                <a:solidFill>
                  <a:srgbClr val="00ACE9"/>
                </a:solidFill>
              </a:rPr>
              <a:t>Slaida virsraksts</a:t>
            </a:r>
            <a:endParaRPr lang="en-LV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6450038-EF68-7252-E499-B5BD2951F9D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754689" y="0"/>
            <a:ext cx="4571999" cy="685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LV"/>
          </a:p>
        </p:txBody>
      </p:sp>
    </p:spTree>
    <p:extLst>
      <p:ext uri="{BB962C8B-B14F-4D97-AF65-F5344CB8AC3E}">
        <p14:creationId xmlns:p14="http://schemas.microsoft.com/office/powerpoint/2010/main" val="1244170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0F454775-8FBA-B9FD-3205-84D34F63D7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552" y="2766218"/>
            <a:ext cx="872995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6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lv-LV" sz="4400" b="1" spc="0" dirty="0"/>
              <a:t>JAUNS</a:t>
            </a:r>
            <a:br>
              <a:rPr lang="lv-LV" sz="4400" b="1" spc="0" dirty="0"/>
            </a:br>
            <a:r>
              <a:rPr lang="lv-LV" sz="4400" b="1" spc="0" dirty="0"/>
              <a:t>APAKŠVIRSRAKSTS</a:t>
            </a:r>
            <a:endParaRPr lang="en-LV" dirty="0"/>
          </a:p>
        </p:txBody>
      </p:sp>
    </p:spTree>
    <p:extLst>
      <p:ext uri="{BB962C8B-B14F-4D97-AF65-F5344CB8AC3E}">
        <p14:creationId xmlns:p14="http://schemas.microsoft.com/office/powerpoint/2010/main" val="2018624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6D1C5B-F98B-2D3E-F063-3845052CB6F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558118" y="1799548"/>
            <a:ext cx="4195389" cy="32589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LV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793A6A3-13FB-47B0-F260-235B0FF35C9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1318" y="638269"/>
            <a:ext cx="3603811" cy="670578"/>
          </a:xfrm>
        </p:spPr>
        <p:txBody>
          <a:bodyPr anchor="b">
            <a:normAutofit/>
          </a:bodyPr>
          <a:lstStyle>
            <a:lvl1pPr algn="l">
              <a:defRPr sz="3600" b="0" spc="0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lv-LV" dirty="0">
                <a:solidFill>
                  <a:srgbClr val="00ACE9"/>
                </a:solidFill>
              </a:rPr>
              <a:t>Slaida virsraksts</a:t>
            </a:r>
            <a:endParaRPr lang="en-LV" dirty="0"/>
          </a:p>
        </p:txBody>
      </p:sp>
    </p:spTree>
    <p:extLst>
      <p:ext uri="{BB962C8B-B14F-4D97-AF65-F5344CB8AC3E}">
        <p14:creationId xmlns:p14="http://schemas.microsoft.com/office/powerpoint/2010/main" val="1004325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9A4DB-D9E6-BF0D-C29D-9D784A6B1C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2004815"/>
            <a:ext cx="6019799" cy="41721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LV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3F59F8D-5C64-D4AB-E815-406CA7A8325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1318" y="638269"/>
            <a:ext cx="3603811" cy="670578"/>
          </a:xfrm>
        </p:spPr>
        <p:txBody>
          <a:bodyPr anchor="b">
            <a:normAutofit/>
          </a:bodyPr>
          <a:lstStyle>
            <a:lvl1pPr algn="l">
              <a:defRPr sz="3600" b="0" spc="0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lv-LV" dirty="0">
                <a:solidFill>
                  <a:srgbClr val="00ACE9"/>
                </a:solidFill>
              </a:rPr>
              <a:t>Slaida virsraksts</a:t>
            </a:r>
            <a:endParaRPr lang="en-LV" dirty="0"/>
          </a:p>
        </p:txBody>
      </p:sp>
    </p:spTree>
    <p:extLst>
      <p:ext uri="{BB962C8B-B14F-4D97-AF65-F5344CB8AC3E}">
        <p14:creationId xmlns:p14="http://schemas.microsoft.com/office/powerpoint/2010/main" val="1422432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5024AC-98FD-68F9-3B29-0EEA3FC137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0" y="542364"/>
            <a:ext cx="10273553" cy="577327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LV"/>
          </a:p>
        </p:txBody>
      </p:sp>
    </p:spTree>
    <p:extLst>
      <p:ext uri="{BB962C8B-B14F-4D97-AF65-F5344CB8AC3E}">
        <p14:creationId xmlns:p14="http://schemas.microsoft.com/office/powerpoint/2010/main" val="285706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07BDC-F273-DFBC-7518-553859B77C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552" y="2766218"/>
            <a:ext cx="7529538" cy="1325563"/>
          </a:xfrm>
        </p:spPr>
        <p:txBody>
          <a:bodyPr/>
          <a:lstStyle>
            <a:lvl1pPr>
              <a:defRPr spc="0"/>
            </a:lvl1pPr>
          </a:lstStyle>
          <a:p>
            <a:r>
              <a:rPr lang="en-GB" dirty="0"/>
              <a:t>PALDIES/</a:t>
            </a:r>
            <a:br>
              <a:rPr lang="en-GB" dirty="0"/>
            </a:br>
            <a:r>
              <a:rPr lang="en-GB" dirty="0"/>
              <a:t>NOSLĒGUMA SLAIDS</a:t>
            </a:r>
            <a:endParaRPr lang="en-LV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73EB676E-4E46-32D8-0041-618BAC323BE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9552" y="5287434"/>
            <a:ext cx="7529538" cy="864096"/>
          </a:xfrm>
        </p:spPr>
        <p:txBody>
          <a:bodyPr>
            <a:normAutofit/>
          </a:bodyPr>
          <a:lstStyle/>
          <a:p>
            <a:r>
              <a:rPr lang="lv-LV" dirty="0"/>
              <a:t>Vieta papildus informācijai – </a:t>
            </a:r>
          </a:p>
          <a:p>
            <a:r>
              <a:rPr lang="lv-LV" dirty="0"/>
              <a:t>kontakti, mājaslapas adrese utt.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2930D3-E468-39DC-BA2F-1D85441B6268}"/>
              </a:ext>
            </a:extLst>
          </p:cNvPr>
          <p:cNvSpPr txBox="1"/>
          <p:nvPr userDrawn="1"/>
        </p:nvSpPr>
        <p:spPr>
          <a:xfrm>
            <a:off x="8139953" y="736898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LV"/>
          </a:p>
        </p:txBody>
      </p:sp>
    </p:spTree>
    <p:extLst>
      <p:ext uri="{BB962C8B-B14F-4D97-AF65-F5344CB8AC3E}">
        <p14:creationId xmlns:p14="http://schemas.microsoft.com/office/powerpoint/2010/main" val="1677208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89BC31-84CC-6493-27A5-0BD04326D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2766218"/>
            <a:ext cx="872995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 b="1" spc="0" dirty="0"/>
              <a:t>PREZENT</a:t>
            </a:r>
            <a:r>
              <a:rPr lang="lv-LV" sz="4400" b="1" spc="0" dirty="0"/>
              <a:t>ĀCIJAS </a:t>
            </a:r>
            <a:br>
              <a:rPr lang="lv-LV" sz="4400" b="1" spc="0" dirty="0"/>
            </a:br>
            <a:r>
              <a:rPr lang="lv-LV" sz="4400" b="1" spc="0" dirty="0"/>
              <a:t>VIRSRAKSTS</a:t>
            </a:r>
            <a:endParaRPr lang="en-LV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9B2469-5D65-1326-83C8-B31E635A69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9552" y="5504329"/>
            <a:ext cx="8729954" cy="7563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lv-LV" dirty="0"/>
              <a:t>Autors  </a:t>
            </a:r>
          </a:p>
          <a:p>
            <a:r>
              <a:rPr lang="lv-LV" dirty="0"/>
              <a:t>Vieta / Datums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2691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spc="1200" baseline="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LV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etbrains.com/idea/" TargetMode="Externa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6928A-6627-FA95-90FE-38599574AC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1318" y="2886421"/>
            <a:ext cx="8630107" cy="1085157"/>
          </a:xfrm>
        </p:spPr>
        <p:txBody>
          <a:bodyPr>
            <a:noAutofit/>
          </a:bodyPr>
          <a:lstStyle/>
          <a:p>
            <a:r>
              <a:rPr lang="en-GB" sz="4400" spc="0" dirty="0">
                <a:latin typeface="Arial"/>
                <a:cs typeface="Arial"/>
              </a:rPr>
              <a:t>Getting started with </a:t>
            </a:r>
            <a:r>
              <a:rPr lang="en-GB" sz="4400" spc="0" dirty="0" err="1">
                <a:latin typeface="Arial"/>
                <a:cs typeface="Arial"/>
              </a:rPr>
              <a:t>intelliJ</a:t>
            </a:r>
            <a:r>
              <a:rPr lang="en-GB" sz="4400" spc="0" dirty="0">
                <a:latin typeface="Arial"/>
                <a:cs typeface="Arial"/>
              </a:rPr>
              <a:t> IDEA</a:t>
            </a:r>
            <a:endParaRPr lang="en-GB" sz="4400" spc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0CDDC2-ABAC-B383-39E2-C31BD5387470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681318" y="5502729"/>
            <a:ext cx="9144000" cy="71700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lv-LV" dirty="0" err="1"/>
              <a:t>Submitted</a:t>
            </a:r>
            <a:r>
              <a:rPr lang="lv-LV" dirty="0"/>
              <a:t> </a:t>
            </a:r>
            <a:r>
              <a:rPr lang="lv-LV" dirty="0" err="1"/>
              <a:t>by</a:t>
            </a:r>
            <a:r>
              <a:rPr lang="lv-LV" dirty="0"/>
              <a:t>- </a:t>
            </a:r>
            <a:r>
              <a:rPr lang="lv-LV" dirty="0" err="1"/>
              <a:t>Bismaya</a:t>
            </a:r>
            <a:r>
              <a:rPr lang="lv-LV" dirty="0"/>
              <a:t> </a:t>
            </a:r>
            <a:r>
              <a:rPr lang="lv-LV" dirty="0" err="1"/>
              <a:t>Aneesh</a:t>
            </a:r>
            <a:endParaRPr lang="lv-LV" dirty="0" err="1">
              <a:cs typeface="Arial"/>
            </a:endParaRPr>
          </a:p>
          <a:p>
            <a:r>
              <a:rPr lang="lv-LV" dirty="0" err="1"/>
              <a:t>Location</a:t>
            </a:r>
            <a:r>
              <a:rPr lang="en-LV" dirty="0"/>
              <a:t> / </a:t>
            </a:r>
            <a:r>
              <a:rPr lang="en-LV" dirty="0" err="1"/>
              <a:t>Da</a:t>
            </a:r>
            <a:r>
              <a:rPr lang="lv-LV" dirty="0" err="1"/>
              <a:t>te</a:t>
            </a:r>
            <a:r>
              <a:rPr lang="lv-LV" dirty="0"/>
              <a:t>- </a:t>
            </a:r>
            <a:r>
              <a:rPr lang="lv-LV" dirty="0" err="1"/>
              <a:t>Riga</a:t>
            </a:r>
            <a:r>
              <a:rPr lang="lv-LV"/>
              <a:t>/ 14.11.2025</a:t>
            </a:r>
            <a:endParaRPr lang="lv-LV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31902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Create and Run your First Kotlin Project in IntelliJ IDEA">
            <a:extLst>
              <a:ext uri="{FF2B5EF4-FFF2-40B4-BE49-F238E27FC236}">
                <a16:creationId xmlns:a16="http://schemas.microsoft.com/office/drawing/2014/main" id="{B6841CDD-76BC-9D41-2E7C-B4FDB5EE294F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5548546" y="1438058"/>
            <a:ext cx="5608249" cy="3182712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496BBE4-B4FF-D314-D33C-97A5BF20AE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1318" y="638269"/>
            <a:ext cx="4866413" cy="670578"/>
          </a:xfrm>
        </p:spPr>
        <p:txBody>
          <a:bodyPr>
            <a:normAutofit/>
          </a:bodyPr>
          <a:lstStyle/>
          <a:p>
            <a:r>
              <a:rPr lang="lv-LV" dirty="0">
                <a:ea typeface="+mn-lt"/>
                <a:cs typeface="+mn-lt"/>
              </a:rPr>
              <a:t> </a:t>
            </a:r>
            <a:r>
              <a:rPr lang="lv-LV" err="1">
                <a:ea typeface="+mn-lt"/>
                <a:cs typeface="+mn-lt"/>
              </a:rPr>
              <a:t>Official</a:t>
            </a:r>
            <a:r>
              <a:rPr lang="lv-LV" dirty="0">
                <a:ea typeface="+mn-lt"/>
                <a:cs typeface="+mn-lt"/>
              </a:rPr>
              <a:t> </a:t>
            </a:r>
            <a:r>
              <a:rPr lang="lv-LV" err="1">
                <a:ea typeface="+mn-lt"/>
                <a:cs typeface="+mn-lt"/>
              </a:rPr>
              <a:t>Website</a:t>
            </a:r>
            <a:endParaRPr lang="en-US" err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619A7F-BBC7-3EF2-96B3-78132FBF16E8}"/>
              </a:ext>
            </a:extLst>
          </p:cNvPr>
          <p:cNvSpPr txBox="1"/>
          <p:nvPr/>
        </p:nvSpPr>
        <p:spPr>
          <a:xfrm>
            <a:off x="681318" y="1592281"/>
            <a:ext cx="4052047" cy="34163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Open your browser and go to  </a:t>
            </a:r>
            <a:r>
              <a:rPr lang="en-US" dirty="0">
                <a:ea typeface="+mn-lt"/>
                <a:cs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https://www.jetbrains.com/idea/</a:t>
            </a:r>
          </a:p>
          <a:p>
            <a:pPr marL="285750" indent="-285750"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Click </a:t>
            </a:r>
            <a:r>
              <a:rPr lang="en-US" b="1" dirty="0">
                <a:ea typeface="+mn-lt"/>
                <a:cs typeface="+mn-lt"/>
              </a:rPr>
              <a:t>Download</a:t>
            </a:r>
            <a:r>
              <a:rPr lang="en-US" dirty="0">
                <a:ea typeface="+mn-lt"/>
                <a:cs typeface="+mn-lt"/>
              </a:rPr>
              <a:t> on the IntelliJ IDEA page.</a:t>
            </a:r>
          </a:p>
          <a:p>
            <a:pPr marL="285750" indent="-285750"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Choose your </a:t>
            </a:r>
            <a:r>
              <a:rPr lang="en-US" b="1" dirty="0">
                <a:ea typeface="+mn-lt"/>
                <a:cs typeface="+mn-lt"/>
              </a:rPr>
              <a:t>Operating System</a:t>
            </a:r>
            <a:r>
              <a:rPr lang="en-US" dirty="0">
                <a:ea typeface="+mn-lt"/>
                <a:cs typeface="+mn-lt"/>
              </a:rPr>
              <a:t> (Windows, macOS, or Linux).</a:t>
            </a:r>
          </a:p>
          <a:p>
            <a:pPr marL="285750" indent="-285750"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Select </a:t>
            </a:r>
            <a:r>
              <a:rPr lang="en-US" b="1" dirty="0">
                <a:ea typeface="+mn-lt"/>
                <a:cs typeface="+mn-lt"/>
              </a:rPr>
              <a:t>Community Edition</a:t>
            </a:r>
            <a:r>
              <a:rPr lang="en-US" dirty="0">
                <a:ea typeface="+mn-lt"/>
                <a:cs typeface="+mn-lt"/>
              </a:rPr>
              <a:t> (recommended for students).</a:t>
            </a:r>
          </a:p>
          <a:p>
            <a:endParaRPr lang="en-US" b="0" i="0" u="none" strike="noStrike" dirty="0">
              <a:effectLst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3291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How to Install IntelliJ IDEA on Windows? - GeeksforGeeks">
            <a:extLst>
              <a:ext uri="{FF2B5EF4-FFF2-40B4-BE49-F238E27FC236}">
                <a16:creationId xmlns:a16="http://schemas.microsoft.com/office/drawing/2014/main" id="{1DF82AC0-1A84-57CF-E5D8-7CF17CAB3C1F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7055005" y="1578956"/>
            <a:ext cx="3953766" cy="3235456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E0E3092-1CBF-CB40-EF01-B5AE3C8C5F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ea typeface="+mn-lt"/>
                <a:cs typeface="+mn-lt"/>
              </a:rPr>
              <a:t>Run the Installer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110C50-80A1-2F47-0C24-04A530AE6E08}"/>
              </a:ext>
            </a:extLst>
          </p:cNvPr>
          <p:cNvSpPr txBox="1"/>
          <p:nvPr/>
        </p:nvSpPr>
        <p:spPr>
          <a:xfrm>
            <a:off x="678366" y="1375317"/>
            <a:ext cx="6096000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dirty="0"/>
              <a:t>Locate the downloaded setup file (e.g., ideaIC-2025.exe).</a:t>
            </a:r>
            <a:endParaRPr lang="en-US" dirty="0">
              <a:cs typeface="Arial"/>
            </a:endParaRPr>
          </a:p>
          <a:p>
            <a:pPr marL="228600" indent="-228600">
              <a:buFont typeface=""/>
              <a:buChar char="•"/>
            </a:pPr>
            <a:endParaRPr lang="en-US" dirty="0">
              <a:cs typeface="Arial"/>
            </a:endParaRPr>
          </a:p>
          <a:p>
            <a:pPr marL="228600" indent="-228600">
              <a:buFont typeface=""/>
              <a:buChar char="•"/>
            </a:pPr>
            <a:r>
              <a:rPr lang="en-US" dirty="0"/>
              <a:t>Double-click to start installation.</a:t>
            </a:r>
            <a:endParaRPr lang="en-US">
              <a:cs typeface="Arial" panose="020B0604020202020204"/>
            </a:endParaRPr>
          </a:p>
          <a:p>
            <a:pPr marL="228600" indent="-228600">
              <a:buFont typeface=""/>
              <a:buChar char="•"/>
            </a:pPr>
            <a:endParaRPr lang="en-US" dirty="0">
              <a:cs typeface="Arial"/>
            </a:endParaRPr>
          </a:p>
          <a:p>
            <a:pPr marL="228600" indent="-228600">
              <a:buFont typeface=""/>
              <a:buChar char="•"/>
            </a:pPr>
            <a:r>
              <a:rPr lang="en-US" dirty="0"/>
              <a:t>Choose installation location and components (like 64-bit launcher).</a:t>
            </a:r>
            <a:endParaRPr lang="en-US" dirty="0">
              <a:cs typeface="Arial"/>
            </a:endParaRPr>
          </a:p>
          <a:p>
            <a:pPr marL="228600" indent="-228600">
              <a:buFont typeface=""/>
              <a:buChar char="•"/>
            </a:pPr>
            <a:endParaRPr lang="en-US" dirty="0">
              <a:cs typeface="Arial"/>
            </a:endParaRPr>
          </a:p>
          <a:p>
            <a:pPr marL="228600" indent="-228600">
              <a:buFont typeface=""/>
              <a:buChar char="•"/>
            </a:pPr>
            <a:r>
              <a:rPr lang="en-US" dirty="0"/>
              <a:t>Click </a:t>
            </a:r>
            <a:r>
              <a:rPr lang="en-US" b="1" dirty="0"/>
              <a:t>Install</a:t>
            </a:r>
            <a:r>
              <a:rPr lang="en-US" dirty="0"/>
              <a:t> and wait until the setup completes.</a:t>
            </a:r>
            <a:endParaRPr lang="en-US" dirty="0">
              <a:cs typeface="Arial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982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Install IntelliJ IDEA | IntelliJ IDEA Documentation">
            <a:extLst>
              <a:ext uri="{FF2B5EF4-FFF2-40B4-BE49-F238E27FC236}">
                <a16:creationId xmlns:a16="http://schemas.microsoft.com/office/drawing/2014/main" id="{970245C4-91DC-9D11-6B2C-1A9F5B19CD84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6798980" y="1502183"/>
            <a:ext cx="4297029" cy="324031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40AB839-43E6-4AEA-2CC0-7A5607312B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a typeface="+mn-lt"/>
                <a:cs typeface="+mn-lt"/>
              </a:rPr>
              <a:t>First Launch Setup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9CB186-38FE-1769-6819-8BB7F4041EC5}"/>
              </a:ext>
            </a:extLst>
          </p:cNvPr>
          <p:cNvSpPr txBox="1"/>
          <p:nvPr/>
        </p:nvSpPr>
        <p:spPr>
          <a:xfrm>
            <a:off x="678366" y="1709854"/>
            <a:ext cx="6226098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dirty="0"/>
              <a:t>After installation, open IntelliJ IDEA from the Start Menu.</a:t>
            </a:r>
            <a:endParaRPr lang="en-US" dirty="0">
              <a:cs typeface="Arial"/>
            </a:endParaRPr>
          </a:p>
          <a:p>
            <a:pPr marL="228600" indent="-228600">
              <a:buFont typeface=""/>
              <a:buChar char="•"/>
            </a:pPr>
            <a:endParaRPr lang="en-US" dirty="0">
              <a:cs typeface="Arial"/>
            </a:endParaRPr>
          </a:p>
          <a:p>
            <a:pPr marL="228600" indent="-228600">
              <a:buFont typeface=""/>
              <a:buChar char="•"/>
            </a:pPr>
            <a:r>
              <a:rPr lang="en-US" dirty="0"/>
              <a:t>Import settings (or choose </a:t>
            </a:r>
            <a:r>
              <a:rPr lang="en-US" b="1" dirty="0"/>
              <a:t>Do not import settings</a:t>
            </a:r>
            <a:r>
              <a:rPr lang="en-US" dirty="0"/>
              <a:t>).</a:t>
            </a:r>
            <a:endParaRPr lang="en-US" dirty="0">
              <a:cs typeface="Arial"/>
            </a:endParaRPr>
          </a:p>
          <a:p>
            <a:pPr marL="228600" indent="-228600">
              <a:buFont typeface=""/>
              <a:buChar char="•"/>
            </a:pPr>
            <a:endParaRPr lang="en-US" dirty="0">
              <a:cs typeface="Arial"/>
            </a:endParaRPr>
          </a:p>
          <a:p>
            <a:pPr marL="228600" indent="-228600">
              <a:buFont typeface=""/>
              <a:buChar char="•"/>
            </a:pPr>
            <a:r>
              <a:rPr lang="en-US" dirty="0"/>
              <a:t>Select a UI theme – </a:t>
            </a:r>
            <a:r>
              <a:rPr lang="en-US" b="1" dirty="0"/>
              <a:t>Light</a:t>
            </a:r>
            <a:r>
              <a:rPr lang="en-US" dirty="0"/>
              <a:t> or </a:t>
            </a:r>
            <a:r>
              <a:rPr lang="en-US" b="1" dirty="0"/>
              <a:t>Dark</a:t>
            </a:r>
            <a:r>
              <a:rPr lang="en-US" dirty="0"/>
              <a:t>.</a:t>
            </a:r>
            <a:endParaRPr lang="en-US" dirty="0">
              <a:cs typeface="Arial"/>
            </a:endParaRPr>
          </a:p>
          <a:p>
            <a:pPr marL="228600" indent="-228600">
              <a:buFont typeface=""/>
              <a:buChar char="•"/>
            </a:pPr>
            <a:endParaRPr lang="en-US" dirty="0">
              <a:cs typeface="Arial"/>
            </a:endParaRPr>
          </a:p>
          <a:p>
            <a:pPr marL="228600" indent="-228600">
              <a:buFont typeface=""/>
              <a:buChar char="•"/>
            </a:pPr>
            <a:r>
              <a:rPr lang="en-US" dirty="0"/>
              <a:t>The IDE may download updates or plugins on first launch.</a:t>
            </a:r>
            <a:endParaRPr lang="en-US" dirty="0">
              <a:cs typeface="Arial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226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Creating a new project - JetBrains Guide">
            <a:extLst>
              <a:ext uri="{FF2B5EF4-FFF2-40B4-BE49-F238E27FC236}">
                <a16:creationId xmlns:a16="http://schemas.microsoft.com/office/drawing/2014/main" id="{F76FAC9C-ECAF-79A5-5212-C7AF1611BD7E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6598154" y="1719122"/>
            <a:ext cx="4660396" cy="257299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89E5BF68-0A34-CE57-EC0C-6A9B614275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1318" y="638269"/>
            <a:ext cx="4626005" cy="670578"/>
          </a:xfrm>
        </p:spPr>
        <p:txBody>
          <a:bodyPr>
            <a:normAutofit fontScale="90000"/>
          </a:bodyPr>
          <a:lstStyle/>
          <a:p>
            <a:r>
              <a:rPr lang="en-US" dirty="0">
                <a:ea typeface="+mn-lt"/>
                <a:cs typeface="+mn-lt"/>
              </a:rPr>
              <a:t>Create Your First Project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3A8CE0-9B1C-2978-D420-3EAA31147DE9}"/>
              </a:ext>
            </a:extLst>
          </p:cNvPr>
          <p:cNvSpPr txBox="1"/>
          <p:nvPr/>
        </p:nvSpPr>
        <p:spPr>
          <a:xfrm>
            <a:off x="678367" y="1431074"/>
            <a:ext cx="6095999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dirty="0"/>
              <a:t>Click </a:t>
            </a:r>
            <a:r>
              <a:rPr lang="en-US" b="1" dirty="0"/>
              <a:t>New Project</a:t>
            </a:r>
            <a:r>
              <a:rPr lang="en-US" dirty="0"/>
              <a:t>.</a:t>
            </a:r>
            <a:endParaRPr lang="en-US" dirty="0">
              <a:cs typeface="Arial"/>
            </a:endParaRPr>
          </a:p>
          <a:p>
            <a:pPr marL="228600" indent="-228600">
              <a:buFont typeface=""/>
              <a:buChar char="•"/>
            </a:pPr>
            <a:endParaRPr lang="en-US" dirty="0"/>
          </a:p>
          <a:p>
            <a:pPr marL="228600" indent="-228600">
              <a:buFont typeface=""/>
              <a:buChar char="•"/>
            </a:pPr>
            <a:r>
              <a:rPr lang="en-US" dirty="0"/>
              <a:t>Choose </a:t>
            </a:r>
            <a:r>
              <a:rPr lang="en-US" b="1" dirty="0"/>
              <a:t>Java</a:t>
            </a:r>
            <a:r>
              <a:rPr lang="en-US" dirty="0"/>
              <a:t> and make sure you have </a:t>
            </a:r>
            <a:r>
              <a:rPr lang="en-US" b="1" dirty="0"/>
              <a:t>JDK installed</a:t>
            </a:r>
            <a:r>
              <a:rPr lang="en-US" dirty="0"/>
              <a:t>.</a:t>
            </a:r>
            <a:endParaRPr lang="en-US" dirty="0">
              <a:cs typeface="Arial"/>
            </a:endParaRPr>
          </a:p>
          <a:p>
            <a:pPr marL="228600" indent="-228600">
              <a:buFont typeface=""/>
              <a:buChar char="•"/>
            </a:pPr>
            <a:endParaRPr lang="en-US" dirty="0"/>
          </a:p>
          <a:p>
            <a:pPr marL="228600" indent="-228600">
              <a:buFont typeface=""/>
              <a:buChar char="•"/>
            </a:pPr>
            <a:r>
              <a:rPr lang="en-US" dirty="0"/>
              <a:t>Set project name and location.</a:t>
            </a:r>
            <a:endParaRPr lang="en-US" dirty="0">
              <a:cs typeface="Arial"/>
            </a:endParaRPr>
          </a:p>
          <a:p>
            <a:pPr marL="228600" indent="-228600">
              <a:buFont typeface=""/>
              <a:buChar char="•"/>
            </a:pPr>
            <a:endParaRPr lang="en-US" dirty="0"/>
          </a:p>
          <a:p>
            <a:pPr marL="228600" indent="-228600">
              <a:buFont typeface=""/>
              <a:buChar char="•"/>
            </a:pPr>
            <a:r>
              <a:rPr lang="en-US" dirty="0"/>
              <a:t>Click </a:t>
            </a:r>
            <a:r>
              <a:rPr lang="en-US" b="1" dirty="0"/>
              <a:t>Create</a:t>
            </a:r>
            <a:r>
              <a:rPr lang="en-US" dirty="0"/>
              <a:t>, and you’re ready to code!</a:t>
            </a:r>
            <a:endParaRPr lang="en-US" dirty="0">
              <a:cs typeface="Arial"/>
            </a:endParaRPr>
          </a:p>
          <a:p>
            <a:pPr algn="ctr"/>
            <a:endParaRPr lang="en-US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1517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IntelliJ IDEA Developer Guide | Amigoscode">
            <a:extLst>
              <a:ext uri="{FF2B5EF4-FFF2-40B4-BE49-F238E27FC236}">
                <a16:creationId xmlns:a16="http://schemas.microsoft.com/office/drawing/2014/main" id="{24223A20-0AE3-927B-5C08-68F892243743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6961420" y="1585119"/>
            <a:ext cx="4539591" cy="256454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53DD202-7D4F-C4DD-0F8B-3554B2C132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ea typeface="+mn-lt"/>
                <a:cs typeface="+mn-lt"/>
              </a:rPr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3566CC-715F-CC09-DEB9-12ACCB9823C8}"/>
              </a:ext>
            </a:extLst>
          </p:cNvPr>
          <p:cNvSpPr txBox="1"/>
          <p:nvPr/>
        </p:nvSpPr>
        <p:spPr>
          <a:xfrm>
            <a:off x="678366" y="1589049"/>
            <a:ext cx="5891561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dirty="0"/>
              <a:t>IntelliJ IDEA makes Java development easier and faster.</a:t>
            </a:r>
          </a:p>
          <a:p>
            <a:pPr marL="228600" indent="-228600">
              <a:buFont typeface=""/>
              <a:buChar char="•"/>
            </a:pPr>
            <a:endParaRPr lang="en-US" dirty="0"/>
          </a:p>
          <a:p>
            <a:pPr marL="228600" indent="-228600">
              <a:buFont typeface=""/>
              <a:buChar char="•"/>
            </a:pPr>
            <a:r>
              <a:rPr lang="en-US" dirty="0"/>
              <a:t>With plugins, it also supports Kotlin, Python, HTML, and more.</a:t>
            </a:r>
            <a:endParaRPr lang="en-US" dirty="0">
              <a:cs typeface="Arial"/>
            </a:endParaRPr>
          </a:p>
          <a:p>
            <a:pPr marL="228600" indent="-228600">
              <a:buFont typeface=""/>
              <a:buChar char="•"/>
            </a:pPr>
            <a:endParaRPr lang="en-US" dirty="0"/>
          </a:p>
          <a:p>
            <a:pPr marL="228600" indent="-228600">
              <a:buFont typeface=""/>
              <a:buChar char="•"/>
            </a:pPr>
            <a:r>
              <a:rPr lang="en-US" dirty="0"/>
              <a:t>Now you’re ready to start your programming journey! </a:t>
            </a:r>
            <a:endParaRPr lang="en-US" dirty="0">
              <a:cs typeface="Arial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338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56B25-410C-1E4E-A5CD-8D4AB61FE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rial"/>
                <a:cs typeface="Arial"/>
              </a:rPr>
              <a:t>THANK YOU</a:t>
            </a:r>
            <a:endParaRPr lang="lv-LV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8104E8-F019-F743-1BB3-983212CC42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552" y="5383368"/>
            <a:ext cx="7529538" cy="76816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Arial"/>
              </a:rPr>
              <a:t>BISMAYA ANEESH</a:t>
            </a:r>
          </a:p>
          <a:p>
            <a:r>
              <a:rPr lang="en-US" dirty="0">
                <a:cs typeface="Arial"/>
              </a:rPr>
              <a:t>CSA1D1</a:t>
            </a:r>
          </a:p>
        </p:txBody>
      </p:sp>
    </p:spTree>
    <p:extLst>
      <p:ext uri="{BB962C8B-B14F-4D97-AF65-F5344CB8AC3E}">
        <p14:creationId xmlns:p14="http://schemas.microsoft.com/office/powerpoint/2010/main" val="29193811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000000"/>
      </a:dk1>
      <a:lt1>
        <a:srgbClr val="FFFFFF"/>
      </a:lt1>
      <a:dk2>
        <a:srgbClr val="3773B9"/>
      </a:dk2>
      <a:lt2>
        <a:srgbClr val="E7E6E6"/>
      </a:lt2>
      <a:accent1>
        <a:srgbClr val="205377"/>
      </a:accent1>
      <a:accent2>
        <a:srgbClr val="F7934F"/>
      </a:accent2>
      <a:accent3>
        <a:srgbClr val="65BD60"/>
      </a:accent3>
      <a:accent4>
        <a:srgbClr val="00AAE7"/>
      </a:accent4>
      <a:accent5>
        <a:srgbClr val="8078B6"/>
      </a:accent5>
      <a:accent6>
        <a:srgbClr val="FAED3C"/>
      </a:accent6>
      <a:hlink>
        <a:srgbClr val="3873B9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07E2AF73-8FB5-0D48-A97E-D121060DA838}" vid="{17F5CB91-3DB5-2743-B62D-0FFE97AC1C3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TURIBA_Presentation</Template>
  <TotalTime>30</TotalTime>
  <Words>220</Words>
  <Application>Microsoft Office PowerPoint</Application>
  <PresentationFormat>Widescreen</PresentationFormat>
  <Paragraphs>44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Getting started with intelliJ IDEA</vt:lpstr>
      <vt:lpstr> Official Website</vt:lpstr>
      <vt:lpstr>Run the Installer</vt:lpstr>
      <vt:lpstr>First Launch Setup</vt:lpstr>
      <vt:lpstr>Create Your First Project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Vishnudhath Vinodkumar</cp:lastModifiedBy>
  <cp:revision>149</cp:revision>
  <dcterms:created xsi:type="dcterms:W3CDTF">2024-07-02T12:37:58Z</dcterms:created>
  <dcterms:modified xsi:type="dcterms:W3CDTF">2025-11-13T19:11:51Z</dcterms:modified>
</cp:coreProperties>
</file>